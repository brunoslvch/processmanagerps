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Urbanist" panose="020B0604020202020204" charset="0"/>
      <p:regular r:id="rId15"/>
      <p:bold r:id="rId16"/>
      <p:italic r:id="rId17"/>
      <p:boldItalic r:id="rId18"/>
    </p:embeddedFont>
    <p:embeddedFont>
      <p:font typeface="Urbanist SemiBold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12D54F4-DA61-4DFB-B8D1-2C16304B34FE}">
  <a:tblStyle styleId="{512D54F4-DA61-4DFB-B8D1-2C16304B34F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148780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Conceito de Processo e Bloco de Controle (PCB)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01568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Fundamentos de Sistemas Operacionais e Gerenciamento de Memória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50926"/>
            <a:ext cx="3492400" cy="2868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650926"/>
            <a:ext cx="3492549" cy="2868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650926"/>
            <a:ext cx="3492400" cy="2868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08150" y="3041451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94241" y="4013001"/>
            <a:ext cx="284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400" b="1" dirty="0">
                <a:solidFill>
                  <a:srgbClr val="7DD3FC"/>
                </a:solidFill>
                <a:latin typeface="Urbanist"/>
                <a:ea typeface="Urbanist"/>
                <a:cs typeface="Urbanist"/>
                <a:sym typeface="Urbanist"/>
              </a:rPr>
              <a:t>Bruno Silva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4584501"/>
            <a:ext cx="271135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Documentação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 Testes</a:t>
            </a:r>
            <a:endParaRPr dirty="0"/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95813" y="3041451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4672388" y="4013001"/>
            <a:ext cx="284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7DD3FC"/>
                </a:solidFill>
                <a:latin typeface="Urbanist"/>
                <a:ea typeface="Urbanist"/>
                <a:cs typeface="Urbanist"/>
                <a:sym typeface="Urbanist"/>
              </a:rPr>
              <a:t>Lucca Biazi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740175" y="4584501"/>
            <a:ext cx="2711499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Desenvolvimento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Técnico</a:t>
            </a:r>
            <a:endParaRPr dirty="0"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74113" y="3041451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8450691" y="4013001"/>
            <a:ext cx="284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7DD3FC"/>
                </a:solidFill>
                <a:latin typeface="Urbanist"/>
                <a:ea typeface="Urbanist"/>
                <a:cs typeface="Urbanist"/>
                <a:sym typeface="Urbanist"/>
              </a:rPr>
              <a:t>Nicolas Paz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518475" y="4584501"/>
            <a:ext cx="271135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Pesquisa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Acadêmica</a:t>
            </a:r>
            <a:endParaRPr lang="en-US" sz="1800"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Equipe do Projeto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71500" y="950862"/>
            <a:ext cx="5715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8033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2807493"/>
            <a:ext cx="523875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 gerenciamento de processos é a função mais básica de um Sistema Operacional. Ele permite que múltiplos programas compartilhem o processador de forma eficiente.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4357687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Nesta apresentação, exploraremos como o SO diferencia arquivos estáticos de instâncias em execução e como ele rastreia cada tarefa através do PCB.</a:t>
            </a:r>
            <a:endParaRPr/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189857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Introdução ao Tema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71500" y="950862"/>
            <a:ext cx="5715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15765"/>
            <a:ext cx="5238750" cy="3539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315765"/>
            <a:ext cx="5238750" cy="3539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09900" y="2706290"/>
            <a:ext cx="3619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850582" y="3677840"/>
            <a:ext cx="468058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7DD3FC"/>
                </a:solidFill>
                <a:latin typeface="Urbanist"/>
                <a:ea typeface="Urbanist"/>
                <a:cs typeface="Urbanist"/>
                <a:sym typeface="Urbanist"/>
              </a:rPr>
              <a:t>O Programa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62025" y="4249340"/>
            <a:ext cx="44577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É uma entidade </a:t>
            </a: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passiva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Um arquivo armazenado no disco rígido (ex: .exe). Não consome CPU ou RAM por si só.</a:t>
            </a:r>
            <a:endParaRPr/>
          </a:p>
        </p:txBody>
      </p:sp>
      <p:pic>
        <p:nvPicPr>
          <p:cNvPr id="127" name="Google Shape;12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0" y="270629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6660832" y="3677840"/>
            <a:ext cx="468058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7DD3FC"/>
                </a:solidFill>
                <a:latin typeface="Urbanist"/>
                <a:ea typeface="Urbanist"/>
                <a:cs typeface="Urbanist"/>
                <a:sym typeface="Urbanist"/>
              </a:rPr>
              <a:t>O Processo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772275" y="4249340"/>
            <a:ext cx="44577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É uma entidade </a:t>
            </a: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ativa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Um programa carregado na memória e em execução. Possui contador de programa e recursos alocados.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Programa vs. Processo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571500" y="950862"/>
            <a:ext cx="5715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8033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571500" y="2736949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7DD3FC"/>
                </a:solidFill>
                <a:latin typeface="Urbanist"/>
                <a:ea typeface="Urbanist"/>
                <a:cs typeface="Urbanist"/>
                <a:sym typeface="Urbanist"/>
              </a:rPr>
              <a:t>A "Ficha Cadastral" do Processo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571500" y="3308449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 PCB é uma estrutura de dados fundamental que armazena todas as informações necessárias para gerenciar um processo específico.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571500" y="4523482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É como um RG digital: sem ele, o Sistema Operacional não saberia onde o processo parou ou quanta memória ele tem direito de usar.</a:t>
            </a:r>
            <a:endParaRPr/>
          </a:p>
        </p:txBody>
      </p:sp>
      <p:pic>
        <p:nvPicPr>
          <p:cNvPr id="141" name="Google Shape;14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189857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Bloco de Controle de Processo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571500" y="950862"/>
            <a:ext cx="5715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9" name="Google Shape;149;p18"/>
          <p:cNvGraphicFramePr/>
          <p:nvPr/>
        </p:nvGraphicFramePr>
        <p:xfrm>
          <a:off x="571500" y="2389882"/>
          <a:ext cx="11049000" cy="3581400"/>
        </p:xfrm>
        <a:graphic>
          <a:graphicData uri="http://schemas.openxmlformats.org/drawingml/2006/table">
            <a:tbl>
              <a:tblPr firstRow="1" bandRow="1">
                <a:noFill/>
                <a:tableStyleId>{512D54F4-DA61-4DFB-B8D1-2C16304B34FE}</a:tableStyleId>
              </a:tblPr>
              <a:tblGrid>
                <a:gridCol w="3254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Campo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Descrição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2E8F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PID (Process ID)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E2E8F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Identificador único numérico do processo no sistema.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B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2E8F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Estado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E2E8F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Novo, Pronto, Executando, Espera ou Terminado.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2E8F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Contador de Programa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E2E8F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Endereço da próxima instrução a ser executada.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B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2E8F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Registradores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E2E8F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Cópia dos dados da CPU para permitir a troca de contexto.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2E8F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Limites de Memória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E2E8F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Proteção para garantir que o processo não acesse área alheia.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B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0" name="Google Shape;150;p18"/>
          <p:cNvSpPr/>
          <p:nvPr/>
        </p:nvSpPr>
        <p:spPr>
          <a:xfrm>
            <a:off x="571500" y="3037582"/>
            <a:ext cx="325427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3825775" y="3037582"/>
            <a:ext cx="7794724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571500" y="3632894"/>
            <a:ext cx="32542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3825775" y="3632894"/>
            <a:ext cx="779472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571500" y="4213919"/>
            <a:ext cx="32542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3825775" y="4213919"/>
            <a:ext cx="779472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571500" y="4794944"/>
            <a:ext cx="32542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3825775" y="4794944"/>
            <a:ext cx="779472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571500" y="5375969"/>
            <a:ext cx="32542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3825775" y="5375969"/>
            <a:ext cx="779472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571500" y="5956994"/>
            <a:ext cx="32542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3825775" y="5956994"/>
            <a:ext cx="779472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Conteúdo Principal do PCB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571500" y="950862"/>
            <a:ext cx="5715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84312"/>
            <a:ext cx="11049000" cy="448791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571500" y="2093862"/>
            <a:ext cx="11049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Como gerenciar centenas de PCBs simultaneamente sem perda de desempenho? O custo da </a:t>
            </a: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Troca de Contexto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é o grande desafio.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571500" y="5926484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Crescimento da carga de PCBs na memória principal ao longo do tempo.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 Complexidade do Escalonamento</a:t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571500" y="950862"/>
            <a:ext cx="5715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952500" y="293876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Multitarefa: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Permite que o SO alterne entre processos tão rápido que parece que rodam ao mesmo tempo.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952500" y="3512046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Segurança: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 PCB armazena privilégios, impedindo que um processo malicioso acesse dados de outro.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952500" y="4085332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Recuperação: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Se um processo é interrompido por I/O, o PCB garante que ele retorne exatamente de onde parou.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952500" y="4658617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Contabilização: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Essencial para monitorar o uso de recursos e faturamento em sistemas de nuvem.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Por que o PCB é Vital?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571500" y="950862"/>
            <a:ext cx="5715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3876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12046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8533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658617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762000" y="1213842"/>
            <a:ext cx="5000625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Laboratório PowerShell</a:t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>
            <a:off x="571500" y="1213842"/>
            <a:ext cx="57150" cy="11049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571500" y="3004542"/>
            <a:ext cx="52006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7DD3FC"/>
                </a:solidFill>
                <a:latin typeface="Urbanist"/>
                <a:ea typeface="Urbanist"/>
                <a:cs typeface="Urbanist"/>
                <a:sym typeface="Urbanist"/>
              </a:rPr>
              <a:t>Manipulando Processos e PCBs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571500" y="3766542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Utilizamos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comandos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PowerShell para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simular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vida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 um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processo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dirty="0"/>
          </a:p>
        </p:txBody>
      </p:sp>
      <p:pic>
        <p:nvPicPr>
          <p:cNvPr id="198" name="Google Shape;19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914400" y="4818816"/>
            <a:ext cx="38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952500" y="4817864"/>
            <a:ext cx="4572000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Start-Process: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Cria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processo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seu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PCB.</a:t>
            </a:r>
            <a:endParaRPr dirty="0"/>
          </a:p>
        </p:txBody>
      </p:sp>
      <p:sp>
        <p:nvSpPr>
          <p:cNvPr id="201" name="Google Shape;201;p21"/>
          <p:cNvSpPr txBox="1"/>
          <p:nvPr/>
        </p:nvSpPr>
        <p:spPr>
          <a:xfrm>
            <a:off x="914400" y="5163502"/>
            <a:ext cx="38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952500" y="5162550"/>
            <a:ext cx="45720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Get-Process: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Extrai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metadados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do PCB.</a:t>
            </a:r>
            <a:endParaRPr dirty="0"/>
          </a:p>
        </p:txBody>
      </p:sp>
      <p:sp>
        <p:nvSpPr>
          <p:cNvPr id="203" name="Google Shape;203;p21"/>
          <p:cNvSpPr txBox="1"/>
          <p:nvPr/>
        </p:nvSpPr>
        <p:spPr>
          <a:xfrm>
            <a:off x="914400" y="5508188"/>
            <a:ext cx="38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990600" y="5462456"/>
            <a:ext cx="4572000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Stop-Process: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Finaliza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processo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destrói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 PCB.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84312"/>
            <a:ext cx="11049000" cy="444996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571500" y="5789562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Dados extraídos via Script: Comparação de uso de CPU por diferentes processos ativos.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Monitoramento de Recursos</a:t>
            </a: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571500" y="950862"/>
            <a:ext cx="5715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3"/>
          <p:cNvSpPr txBox="1"/>
          <p:nvPr/>
        </p:nvSpPr>
        <p:spPr>
          <a:xfrm>
            <a:off x="490537" y="206246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Conclusão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571500" y="3205460"/>
            <a:ext cx="11049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 Bloco de Controle de Processo (PCB) não é apenas uma tabela técnica, mas a espinha dorsal da computação moderna.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571500" y="4294882"/>
            <a:ext cx="11049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Compreender o PCB é entender como a abstração do hardware permite a flexibilidade do software que usamos todos os dias.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4"/>
          <p:cNvSpPr txBox="1"/>
          <p:nvPr/>
        </p:nvSpPr>
        <p:spPr>
          <a:xfrm>
            <a:off x="295275" y="2223194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 err="1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Obrigado</a:t>
            </a:r>
            <a:r>
              <a:rPr lang="en-US" sz="7500" b="1" i="0" u="none" strike="noStrike" cap="none" dirty="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!</a:t>
            </a:r>
            <a:endParaRPr dirty="0"/>
          </a:p>
        </p:txBody>
      </p:sp>
      <p:sp>
        <p:nvSpPr>
          <p:cNvPr id="228" name="Google Shape;228;p24"/>
          <p:cNvSpPr txBox="1"/>
          <p:nvPr/>
        </p:nvSpPr>
        <p:spPr>
          <a:xfrm>
            <a:off x="571500" y="4366319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Agradecemos a atenção de todos.</a:t>
            </a:r>
            <a:endParaRPr/>
          </a:p>
        </p:txBody>
      </p:sp>
      <p:sp>
        <p:nvSpPr>
          <p:cNvPr id="229" name="Google Shape;229;p24"/>
          <p:cNvSpPr txBox="1"/>
          <p:nvPr/>
        </p:nvSpPr>
        <p:spPr>
          <a:xfrm>
            <a:off x="571500" y="5101530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Laboratório de Sistemas Operacionais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513</Words>
  <Application>Microsoft Office PowerPoint</Application>
  <PresentationFormat>Widescreen</PresentationFormat>
  <Paragraphs>59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Arial</vt:lpstr>
      <vt:lpstr>Urbanist</vt:lpstr>
      <vt:lpstr>Calibri</vt:lpstr>
      <vt:lpstr>Urbanist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Bruno da Silva Chagas</cp:lastModifiedBy>
  <cp:revision>3</cp:revision>
  <dcterms:modified xsi:type="dcterms:W3CDTF">2026-06-11T14:52:51Z</dcterms:modified>
</cp:coreProperties>
</file>